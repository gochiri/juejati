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9532" y="1077367"/>
            <a:ext cx="5924937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spcAft>
                <a:spcPts val="18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Reactivación</a:t>
            </a:r>
            <a:endParaRPr lang="en-US" sz="3900" dirty="0"/>
          </a:p>
          <a:p>
            <a:pPr algn="ctr" indent="0" marL="0">
              <a:lnSpc>
                <a:spcPts val="4680"/>
              </a:lnSpc>
              <a:spcAft>
                <a:spcPts val="18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288858" y="2646908"/>
            <a:ext cx="45662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Estancadas • Juejati Brokers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61318" y="3751808"/>
            <a:ext cx="2621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Implementación | Enero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868561"/>
            <a:ext cx="4305300" cy="1003846"/>
          </a:xfrm>
          <a:prstGeom prst="roundRect">
            <a:avLst>
              <a:gd name="adj" fmla="val 75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09550" y="868561"/>
            <a:ext cx="0" cy="1003846"/>
          </a:xfrm>
          <a:prstGeom prst="line">
            <a:avLst/>
          </a:prstGeom>
          <a:noFill/>
          <a:ln w="381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00" y="1020961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55A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Oportunidades Perdidas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1319957"/>
            <a:ext cx="40416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quedan sin seguimiento después de 7 días. No hay sistema automático de reactivación.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0500" y="1986707"/>
            <a:ext cx="4305300" cy="1003846"/>
          </a:xfrm>
          <a:prstGeom prst="roundRect">
            <a:avLst>
              <a:gd name="adj" fmla="val 75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9550" y="1986707"/>
            <a:ext cx="0" cy="1003846"/>
          </a:xfrm>
          <a:prstGeom prst="line">
            <a:avLst/>
          </a:prstGeom>
          <a:noFill/>
          <a:ln w="38100">
            <a:solidFill>
              <a:srgbClr val="1F4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000" y="2139107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C55A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Baja Usabilidad del CRM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1000" y="2438102"/>
            <a:ext cx="40416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identificar qué leads necesitan atención. Carga manual alta para el equipo.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8200" y="908447"/>
            <a:ext cx="4305300" cy="2042071"/>
          </a:xfrm>
          <a:prstGeom prst="roundRect">
            <a:avLst>
              <a:gd name="adj" fmla="val 373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0" y="908447"/>
            <a:ext cx="0" cy="2042071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700" y="1060847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Impacto Actual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38700" y="1397943"/>
            <a:ext cx="40416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38700" y="1836093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leads se estancan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838700" y="2174230"/>
            <a:ext cx="40416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838700" y="2612380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recuperación manual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146768" y="868561"/>
            <a:ext cx="485046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F4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Automático de Reactivación con 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" y="1660922"/>
            <a:ext cx="4324350" cy="70485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794272"/>
            <a:ext cx="4138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Detección Automática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23850" y="2046684"/>
            <a:ext cx="41388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GHL nativo detecta leads estancados 7 días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90500" y="2441972"/>
            <a:ext cx="4324350" cy="70485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850" y="2575322"/>
            <a:ext cx="4138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Reactivación WhatsApp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23850" y="2827734"/>
            <a:ext cx="41388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mensajes personalizados con propiedades Tokko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629150" y="1660922"/>
            <a:ext cx="4324350" cy="704850"/>
          </a:xfrm>
          <a:prstGeom prst="roundRect">
            <a:avLst>
              <a:gd name="adj" fmla="val 8108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1794272"/>
            <a:ext cx="4138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Propiedades Dinámicas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762500" y="2046684"/>
            <a:ext cx="41388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Tokko Broker + búsqueda IA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29150" y="2441972"/>
            <a:ext cx="4324350" cy="704850"/>
          </a:xfrm>
          <a:prstGeom prst="roundRect">
            <a:avLst>
              <a:gd name="adj" fmla="val 8108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2575322"/>
            <a:ext cx="4138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Escalamiento Inteligente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62500" y="2827734"/>
            <a:ext cx="41388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Asesores humanos con contexto completo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90500" y="3489722"/>
            <a:ext cx="8763000" cy="466725"/>
          </a:xfrm>
          <a:prstGeom prst="roundRect">
            <a:avLst>
              <a:gd name="adj" fmla="val 12245"/>
            </a:avLst>
          </a:prstGeom>
          <a:solidFill>
            <a:srgbClr val="F0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8887" y="3623072"/>
            <a:ext cx="86662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Aumentar tasa de recuperación de 5-10% a 20-30%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Funciona?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101143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3226" y="107334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868561"/>
            <a:ext cx="8267700" cy="66675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0100" y="98286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Automática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00100" y="123527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sin actividad 7 días → Trigger GHL nativo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175438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226" y="181629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1611511"/>
            <a:ext cx="8267700" cy="66675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172581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1 (Día 0)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00100" y="197822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con propiedades personalizadas de Tokko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90500" y="249733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226" y="255924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354461"/>
            <a:ext cx="8267700" cy="66675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" y="246876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2 (Día 2)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0100" y="272117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con más opciones si no responde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90500" y="324028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3226" y="330219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3097411"/>
            <a:ext cx="8267700" cy="66675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0100" y="321171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3 (Día 5)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00100" y="346412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oportunidad + oferta de asesor humano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90500" y="398323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226" y="4045148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5800" y="3840361"/>
            <a:ext cx="8267700" cy="666750"/>
          </a:xfrm>
          <a:prstGeom prst="roundRect">
            <a:avLst>
              <a:gd name="adj" fmla="val 8571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04850" y="3840361"/>
            <a:ext cx="0" cy="66675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200" y="3954661"/>
            <a:ext cx="81610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38200" y="4207073"/>
            <a:ext cx="81610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 de asesor + notificaciones + contexto completo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6111050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Ejemplo: Mensaje de Reactivación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868561"/>
            <a:ext cx="4305300" cy="4038600"/>
          </a:xfrm>
          <a:prstGeom prst="roundRect">
            <a:avLst>
              <a:gd name="adj" fmla="val 1887"/>
            </a:avLst>
          </a:prstGeom>
          <a:solidFill>
            <a:srgbClr val="E8F4FD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1950" y="1040011"/>
            <a:ext cx="40416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WhatsApp (Día 0)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1950" y="1354336"/>
            <a:ext cx="3962400" cy="3381375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487686"/>
            <a:ext cx="37696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Hola María! 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5300" y="1821061"/>
            <a:ext cx="37696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unos días estuvimos conversando sobre tu búsqueda de departamento en Palermo.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5300" y="2411611"/>
            <a:ext cx="376961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¿Seguís buscando? Tenemos propiedades nuevas que podrían interesarte 🏡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5300" y="3040261"/>
            <a:ext cx="3695700" cy="557213"/>
          </a:xfrm>
          <a:prstGeom prst="roundRect">
            <a:avLst>
              <a:gd name="adj" fmla="val 68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135511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Depto 2 amb con balcón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0550" y="3345061"/>
            <a:ext cx="35753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USD 320,000 • 📍 Palermo Soho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5300" y="3673673"/>
            <a:ext cx="3695700" cy="557213"/>
          </a:xfrm>
          <a:prstGeom prst="roundRect">
            <a:avLst>
              <a:gd name="adj" fmla="val 68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0550" y="3768923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Luminoso 2 ambientes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0550" y="3978473"/>
            <a:ext cx="357530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USD 295,000 • 📍 Palermo Hollywood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5300" y="4345186"/>
            <a:ext cx="37696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900"/>
              </a:spcBef>
              <a:buNone/>
            </a:pPr>
            <a:r>
              <a:rPr lang="en-US" sz="1350" i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¿Alguna te llama la atención?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48200" y="1589187"/>
            <a:ext cx="4305300" cy="789533"/>
          </a:xfrm>
          <a:prstGeom prst="roundRect">
            <a:avLst>
              <a:gd name="adj" fmla="val 96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1589187"/>
            <a:ext cx="0" cy="789533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1741587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0AD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Personalizado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8700" y="2040582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nombre, zona, tipo de propiedad del lead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648200" y="2493020"/>
            <a:ext cx="4305300" cy="789533"/>
          </a:xfrm>
          <a:prstGeom prst="roundRect">
            <a:avLst>
              <a:gd name="adj" fmla="val 96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2493020"/>
            <a:ext cx="0" cy="789533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700" y="2645420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0AD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Propiedades Reales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38700" y="2944416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automática en Tokko Broker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648200" y="3396853"/>
            <a:ext cx="4305300" cy="789533"/>
          </a:xfrm>
          <a:prstGeom prst="roundRect">
            <a:avLst>
              <a:gd name="adj" fmla="val 96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3396853"/>
            <a:ext cx="0" cy="789533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700" y="3549253"/>
            <a:ext cx="404164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0AD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Tono Natural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38700" y="3848249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IA (Sofía)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770311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del Sistema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961430"/>
            <a:ext cx="4191000" cy="1180058"/>
          </a:xfrm>
          <a:prstGeom prst="roundRect">
            <a:avLst>
              <a:gd name="adj" fmla="val 645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13830"/>
            <a:ext cx="396392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GHL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1431875"/>
            <a:ext cx="396392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SR01: Secuencia Reactivación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SH01: Escalamiento a Humano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SM01: Reportes Semanales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04800" y="2255788"/>
            <a:ext cx="4191000" cy="808583"/>
          </a:xfrm>
          <a:prstGeom prst="roundRect">
            <a:avLst>
              <a:gd name="adj" fmla="val 942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408188"/>
            <a:ext cx="396392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Fields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726234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zona, tipo_propiedad, presupuesto, ambientes, intencion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48200" y="868561"/>
            <a:ext cx="4191000" cy="1365796"/>
          </a:xfrm>
          <a:prstGeom prst="roundRect">
            <a:avLst>
              <a:gd name="adj" fmla="val 5579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0600" y="1020961"/>
            <a:ext cx="396392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Integraciones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00600" y="1339007"/>
            <a:ext cx="396392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n8n: Asistente IA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Tokko: API propiedades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Supabase: Búsqueda vectorial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GPT-5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648200" y="2348657"/>
            <a:ext cx="4191000" cy="808583"/>
          </a:xfrm>
          <a:prstGeom prst="roundRect">
            <a:avLst>
              <a:gd name="adj" fmla="val 9424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2501057"/>
            <a:ext cx="3963924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00600" y="2819102"/>
            <a:ext cx="3963924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estancada 7 dias, escalado a humano, reactivado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5071491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de Implementación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868561"/>
            <a:ext cx="2819400" cy="1990725"/>
          </a:xfrm>
          <a:prstGeom prst="roundRect">
            <a:avLst>
              <a:gd name="adj" fmla="val 382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20961"/>
            <a:ext cx="25648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2900" y="1506736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" y="1935361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workflows GHL, integración n8n, testing inicial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42900" y="2535436"/>
            <a:ext cx="25648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8-12 horas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62300" y="868561"/>
            <a:ext cx="2819400" cy="1990725"/>
          </a:xfrm>
          <a:prstGeom prst="roundRect">
            <a:avLst>
              <a:gd name="adj" fmla="val 3828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14700" y="1113830"/>
            <a:ext cx="25648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14700" y="1599605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Avanzada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14700" y="2028230"/>
            <a:ext cx="25648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Escalamiento, reportes, testing completo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314700" y="2442567"/>
            <a:ext cx="25648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6-8 horas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34100" y="868561"/>
            <a:ext cx="2819400" cy="1990725"/>
          </a:xfrm>
          <a:prstGeom prst="roundRect">
            <a:avLst>
              <a:gd name="adj" fmla="val 3828"/>
            </a:avLst>
          </a:prstGeom>
          <a:solidFill>
            <a:srgbClr val="F0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0" y="1113830"/>
            <a:ext cx="25648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86500" y="1599605"/>
            <a:ext cx="25648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86500" y="2028230"/>
            <a:ext cx="256489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Activación, monitoreo, optimización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286500" y="2442567"/>
            <a:ext cx="25648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4-6 horas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Inversión y Retorno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868561"/>
            <a:ext cx="4305300" cy="1414463"/>
          </a:xfrm>
          <a:prstGeom prst="roundRect">
            <a:avLst>
              <a:gd name="adj" fmla="val 53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2895" y="1020961"/>
            <a:ext cx="40805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INICIAL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2895" y="1282898"/>
            <a:ext cx="40805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$1,400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302895" y="1959173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completa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0500" y="2397323"/>
            <a:ext cx="4305300" cy="1414463"/>
          </a:xfrm>
          <a:prstGeom prst="roundRect">
            <a:avLst>
              <a:gd name="adj" fmla="val 53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2895" y="2549723"/>
            <a:ext cx="40805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MENSUAL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2895" y="2811661"/>
            <a:ext cx="40805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302895" y="3487936"/>
            <a:ext cx="4080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y mantenimiento</a:t>
            </a:r>
            <a:endParaRPr lang="en-US" sz="900" dirty="0"/>
          </a:p>
        </p:txBody>
      </p:sp>
      <p:pic>
        <p:nvPicPr>
          <p:cNvPr id="11" name="Image 0" descr="/tmp/rasterized-gradient-9e8d52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1225748"/>
            <a:ext cx="4305300" cy="17002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99457" y="1416248"/>
            <a:ext cx="400278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MENSUAL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799457" y="1678186"/>
            <a:ext cx="400278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9,600%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4799457" y="2535436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Recuperación en 11 días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48200" y="3040261"/>
            <a:ext cx="4305300" cy="414338"/>
          </a:xfrm>
          <a:prstGeom prst="roundRect">
            <a:avLst>
              <a:gd name="adj" fmla="val 18391"/>
            </a:avLst>
          </a:prstGeom>
          <a:solidFill>
            <a:srgbClr val="F0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67250" y="3040261"/>
            <a:ext cx="0" cy="414338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154561"/>
            <a:ext cx="41193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oportunidades adicionales/mes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+USD 12,600 mensual estimado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Éxito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868561"/>
            <a:ext cx="42748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F4E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Principales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04800" y="1262807"/>
            <a:ext cx="4191000" cy="766763"/>
          </a:xfrm>
          <a:prstGeom prst="roundRect">
            <a:avLst>
              <a:gd name="adj" fmla="val 74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377107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reactivación total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9100" y="1600944"/>
            <a:ext cx="40416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&gt;25%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04800" y="2181969"/>
            <a:ext cx="4191000" cy="766763"/>
          </a:xfrm>
          <a:prstGeom prst="roundRect">
            <a:avLst>
              <a:gd name="adj" fmla="val 74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296269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escalamiento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9100" y="2520107"/>
            <a:ext cx="40416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04800" y="3101132"/>
            <a:ext cx="4191000" cy="766763"/>
          </a:xfrm>
          <a:prstGeom prst="roundRect">
            <a:avLst>
              <a:gd name="adj" fmla="val 74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3215432"/>
            <a:ext cx="40416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escalados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19100" y="3439269"/>
            <a:ext cx="40416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&gt;15%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48200" y="985242"/>
            <a:ext cx="42748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8200" y="1379488"/>
            <a:ext cx="4191000" cy="1100138"/>
          </a:xfrm>
          <a:prstGeom prst="roundRect">
            <a:avLst>
              <a:gd name="adj" fmla="val 6926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1512838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Diaria (Asesores)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81550" y="1789063"/>
            <a:ext cx="400278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escalados hoy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secuencia activa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Reactivados esta semana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648200" y="2651075"/>
            <a:ext cx="4191000" cy="1100138"/>
          </a:xfrm>
          <a:prstGeom prst="roundRect">
            <a:avLst>
              <a:gd name="adj" fmla="val 692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81550" y="2784425"/>
            <a:ext cx="40027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Semanal (Gerencia)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81550" y="3060650"/>
            <a:ext cx="400278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respuesta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recuperado</a:t>
            </a: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por asesor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0"/>
            <a:ext cx="4478845" cy="868561"/>
          </a:xfrm>
          <a:prstGeom prst="rect">
            <a:avLst/>
          </a:prstGeom>
          <a:noFill/>
          <a:ln/>
        </p:spPr>
        <p:txBody>
          <a:bodyPr wrap="square" lIns="190500" tIns="228600" rIns="190500" bIns="22860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52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90500" y="86856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4176" y="911423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7700" y="868561"/>
            <a:ext cx="8305800" cy="70485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1050" y="100191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y Aprobación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81050" y="125432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alcance, flujos de mensajes, y timeline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90500" y="168771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4176" y="1730573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700" y="1687711"/>
            <a:ext cx="8305800" cy="704850"/>
          </a:xfrm>
          <a:prstGeom prst="roundRect">
            <a:avLst>
              <a:gd name="adj" fmla="val 810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050" y="182106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 Meeting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81050" y="207347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expectativas con equipo de ventas (1 hora)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90500" y="250686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4176" y="2549723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7700" y="2506861"/>
            <a:ext cx="8305800" cy="704850"/>
          </a:xfrm>
          <a:prstGeom prst="roundRect">
            <a:avLst>
              <a:gd name="adj" fmla="val 8108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1050" y="264021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(3 semanas)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81050" y="289262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Desarrollo, testing, y activación en producción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90500" y="332601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4176" y="3368873"/>
            <a:ext cx="973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7700" y="3326011"/>
            <a:ext cx="8305800" cy="704850"/>
          </a:xfrm>
          <a:prstGeom prst="roundRect">
            <a:avLst>
              <a:gd name="adj" fmla="val 8108"/>
            </a:avLst>
          </a:prstGeom>
          <a:solidFill>
            <a:srgbClr val="F0F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1050" y="3459361"/>
            <a:ext cx="81998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y Capacitación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781050" y="3711773"/>
            <a:ext cx="81998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con equipo + monitoreo primeras semanas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1054" y="1168747"/>
            <a:ext cx="544174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¿Listos para Comenzar?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988591" y="2098328"/>
            <a:ext cx="51665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Transformemos oportunidades estancadas en ventas reales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73487" y="2841278"/>
            <a:ext cx="2396877" cy="1133475"/>
          </a:xfrm>
          <a:prstGeom prst="roundRect">
            <a:avLst>
              <a:gd name="adj" fmla="val 100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82690" y="3069878"/>
            <a:ext cx="1978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82690" y="3374678"/>
            <a:ext cx="19784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german@korvance.com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Juejati Brokers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Propuesta: Sistema Stale Opportunities</dc:title>
  <dc:subject>Sistema de Reactivación Automática - Stale Opportunities</dc:subject>
  <dc:creator>Korvance - GHL Implementation</dc:creator>
  <cp:lastModifiedBy>Korvance - GHL Implementation</cp:lastModifiedBy>
  <cp:revision>1</cp:revision>
  <dcterms:created xsi:type="dcterms:W3CDTF">2026-01-04T22:35:30Z</dcterms:created>
  <dcterms:modified xsi:type="dcterms:W3CDTF">2026-01-04T22:35:30Z</dcterms:modified>
</cp:coreProperties>
</file>